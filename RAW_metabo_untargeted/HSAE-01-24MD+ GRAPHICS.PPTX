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20.emf" ContentType="image/emf"/>
  <Override PartName="/ppt/media/image21.emf" ContentType="image/emf"/>
  <Override PartName="/ppt/media/image23.emf" ContentType="image/emf"/>
  <Override PartName="/ppt/media/image24.emf" ContentType="image/emf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9" r:id="rId6"/>
    <p:sldId id="273" r:id="rId7"/>
    <p:sldId id="274" r:id="rId8"/>
    <p:sldId id="269" r:id="rId9"/>
    <p:sldId id="260" r:id="rId10"/>
    <p:sldId id="275" r:id="rId11"/>
    <p:sldId id="277" r:id="rId12"/>
    <p:sldId id="262" r:id="rId13"/>
    <p:sldId id="263" r:id="rId14"/>
    <p:sldId id="276" r:id="rId15"/>
    <p:sldId id="272" r:id="rId16"/>
    <p:sldId id="278" r:id="rId17"/>
    <p:sldId id="258" r:id="rId18"/>
  </p:sldIdLst>
  <p:sldSz cx="9144000" cy="6858000" type="screen4x3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88" autoAdjust="0"/>
  </p:normalViewPr>
  <p:slideViewPr>
    <p:cSldViewPr snapToGrid="0" showGuides="1">
      <p:cViewPr varScale="1">
        <p:scale>
          <a:sx n="136" d="100"/>
          <a:sy n="136" d="100"/>
        </p:scale>
        <p:origin x="30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417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36A2A-B0FD-4D37-BE7A-F88CEA0372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90907"/>
            <a:ext cx="6180364" cy="2530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FB61E-5EA8-447D-851E-04EE8D9726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262007" y="8890907"/>
            <a:ext cx="594406" cy="2530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F44D2-6902-4E34-8392-743A3FBD0EFE}" type="slidenum">
              <a:rPr lang="en-US" sz="800"/>
              <a:t>‹#›</a:t>
            </a:fld>
            <a:endParaRPr lang="en-US" sz="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6E2F9-E451-4C5C-AC1B-DD0356BA1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565" y="318169"/>
            <a:ext cx="496635" cy="3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44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82743"/>
            <a:ext cx="6172200" cy="2612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286499" y="8882743"/>
            <a:ext cx="569913" cy="2612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B3B83F3E-D1FA-4DF0-9C5B-70758A53037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84C1EC-67E5-4AA1-A696-EBEE292EA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565" y="318169"/>
            <a:ext cx="496635" cy="3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7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83F3E-D1FA-4DF0-9C5B-70758A53037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3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3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30000">
              <a:schemeClr val="accent1">
                <a:lumMod val="75000"/>
              </a:schemeClr>
            </a:gs>
            <a:gs pos="9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766A82-88BA-49FA-82EA-B50A7C011C3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4112" y="4"/>
            <a:ext cx="5959891" cy="6857999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37D6121-F3A3-4270-AC44-5DC8563F1C8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07182" y="406400"/>
            <a:ext cx="8579644" cy="602773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8AD14DB-2047-4EF3-B8ED-25AC87D0660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7094537" y="5766374"/>
            <a:ext cx="1800225" cy="583052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3B0CFE0A-6224-50D7-C634-2B511703755B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628650" y="619095"/>
            <a:ext cx="6858000" cy="1792287"/>
          </a:xfrm>
          <a:prstGeom prst="rect">
            <a:avLst/>
          </a:prstGeom>
        </p:spPr>
        <p:txBody>
          <a:bodyPr vert="horz" wrap="square" lIns="0" tIns="0" rIns="0" bIns="0" anchor="b">
            <a:noAutofit/>
          </a:bodyPr>
          <a:lstStyle>
            <a:lvl1pPr algn="l">
              <a:defRPr sz="4500" b="1" i="0" spc="-113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FEF6BCD8-C185-ACF3-8E89-180037F00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3429008"/>
            <a:ext cx="5334828" cy="2843653"/>
          </a:xfrm>
        </p:spPr>
        <p:txBody>
          <a:bodyPr vert="horz" lIns="0" tIns="0" rIns="0" b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2F362-8587-95AB-0FF3-1672AB52AA6B}"/>
              </a:ext>
            </a:extLst>
          </p:cNvPr>
          <p:cNvSpPr/>
          <p:nvPr userDrawn="1"/>
        </p:nvSpPr>
        <p:spPr>
          <a:xfrm>
            <a:off x="628655" y="3706238"/>
            <a:ext cx="845507" cy="185215"/>
          </a:xfrm>
          <a:prstGeom prst="rect">
            <a:avLst/>
          </a:prstGeom>
          <a:gradFill flip="none" rotWithShape="1">
            <a:gsLst>
              <a:gs pos="30000">
                <a:schemeClr val="accent3"/>
              </a:gs>
              <a:gs pos="100000">
                <a:schemeClr val="accent5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C0821-592D-1DC1-A58D-4C1DC7A4082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961" y="5843155"/>
            <a:ext cx="2302933" cy="4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99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 Title Slide">
    <p:bg>
      <p:bgPr>
        <a:gradFill>
          <a:gsLst>
            <a:gs pos="30000">
              <a:schemeClr val="bg1"/>
            </a:gs>
            <a:gs pos="90000">
              <a:schemeClr val="bg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40219F13-0C80-A9C7-67D3-8AD59D185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4"/>
          <a:stretch/>
        </p:blipFill>
        <p:spPr>
          <a:xfrm>
            <a:off x="3128483" y="2"/>
            <a:ext cx="6015519" cy="6858003"/>
          </a:xfrm>
          <a:prstGeom prst="rect">
            <a:avLst/>
          </a:prstGeom>
        </p:spPr>
      </p:pic>
      <p:sp>
        <p:nvSpPr>
          <p:cNvPr id="13" name="Title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28650" y="619095"/>
            <a:ext cx="6858000" cy="1792287"/>
          </a:xfrm>
          <a:prstGeom prst="rect">
            <a:avLst/>
          </a:prstGeom>
        </p:spPr>
        <p:txBody>
          <a:bodyPr vert="horz" wrap="square" lIns="0" tIns="0" rIns="0" bIns="0" anchor="b">
            <a:noAutofit/>
          </a:bodyPr>
          <a:lstStyle>
            <a:lvl1pPr algn="l">
              <a:defRPr sz="4500" b="1" i="0" spc="-113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/>
          </p:nvPr>
        </p:nvSpPr>
        <p:spPr>
          <a:xfrm>
            <a:off x="628650" y="3429008"/>
            <a:ext cx="5334828" cy="2843653"/>
          </a:xfrm>
        </p:spPr>
        <p:txBody>
          <a:bodyPr vert="horz" lIns="0" tIns="0" rIns="0" bIns="0">
            <a:no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628655" y="2611448"/>
            <a:ext cx="845507" cy="185215"/>
          </a:xfrm>
          <a:prstGeom prst="rect">
            <a:avLst/>
          </a:prstGeom>
          <a:gradFill flip="none" rotWithShape="1">
            <a:gsLst>
              <a:gs pos="30000">
                <a:schemeClr val="accent3"/>
              </a:gs>
              <a:gs pos="100000">
                <a:schemeClr val="accent5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+mn-lt"/>
            </a:endParaRP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D4098774-F6F1-4107-91B6-F8C89056F03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307182" y="406400"/>
            <a:ext cx="8579644" cy="602773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6275A23F-AB6E-46B5-807D-4738C5435BB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7094537" y="5766374"/>
            <a:ext cx="1800225" cy="583052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A0E9F-E98D-BF5A-517B-EA1AEF22CA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2023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9F7A22-B26F-F0DB-06EB-F44A73D87DE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619" y="5843155"/>
            <a:ext cx="2298359" cy="4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8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>
          <a:xfrm>
            <a:off x="311755" y="1331061"/>
            <a:ext cx="8561774" cy="50978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insert text – avoid more than three bullet levels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5" y="6489177"/>
            <a:ext cx="914171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DD447E89-EA37-4728-8980-32AC2FAD097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94643" y="585976"/>
            <a:ext cx="8605520" cy="586223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AA82FC2A-E5E0-4BD7-8A12-FD2BD1C67D0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8516170" y="259654"/>
            <a:ext cx="370658" cy="583052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C6E47-18BA-83C8-2D4C-F1C42D3E3E41}"/>
              </a:ext>
            </a:extLst>
          </p:cNvPr>
          <p:cNvSpPr/>
          <p:nvPr userDrawn="1"/>
        </p:nvSpPr>
        <p:spPr>
          <a:xfrm>
            <a:off x="0" y="-4338"/>
            <a:ext cx="9144000" cy="1003477"/>
          </a:xfrm>
          <a:prstGeom prst="rect">
            <a:avLst/>
          </a:prstGeom>
          <a:gradFill flip="none" rotWithShape="1">
            <a:gsLst>
              <a:gs pos="30000">
                <a:schemeClr val="tx2"/>
              </a:gs>
              <a:gs pos="100000">
                <a:schemeClr val="accent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 b="0" i="0" dirty="0">
              <a:latin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D12997-4495-2036-9271-4CBC053DE71E}"/>
              </a:ext>
            </a:extLst>
          </p:cNvPr>
          <p:cNvSpPr/>
          <p:nvPr userDrawn="1"/>
        </p:nvSpPr>
        <p:spPr>
          <a:xfrm>
            <a:off x="-1" y="995938"/>
            <a:ext cx="9144001" cy="914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60000">
                <a:schemeClr val="accent4"/>
              </a:gs>
              <a:gs pos="0">
                <a:schemeClr val="tx2"/>
              </a:gs>
              <a:gs pos="100000">
                <a:schemeClr val="accent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 b="0" i="0" dirty="0">
              <a:latin typeface="+mn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14DABD-79C8-26D5-8D80-AEF3BABADD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2023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09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30152C32-CB63-4602-92A7-F2DF900AFD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" y="8"/>
            <a:ext cx="9141713" cy="644821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E647ED82-88A9-4B24-A99C-2CC2E2A3D84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8479430" y="259654"/>
            <a:ext cx="407397" cy="583052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A552C-F798-FF4B-D03C-D36AB80570CB}"/>
              </a:ext>
            </a:extLst>
          </p:cNvPr>
          <p:cNvSpPr txBox="1"/>
          <p:nvPr userDrawn="1"/>
        </p:nvSpPr>
        <p:spPr>
          <a:xfrm>
            <a:off x="8659515" y="6489185"/>
            <a:ext cx="226745" cy="3688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B5D67274-A358-4A3D-B8D0-184382E74259}" type="slidenum">
              <a:rPr lang="en-US" sz="750" b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pPr algn="r"/>
              <a:t>‹#›</a:t>
            </a:fld>
            <a:endParaRPr lang="en-US" sz="750" b="1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D22399-DEDB-76BB-7F3F-0EF24AF1E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2023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E44B155-7C92-7816-996E-7539832F3E3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07184" y="189294"/>
            <a:ext cx="8070699" cy="47467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20FEA4-3CA6-E2D0-CFE1-BD93A4360744}"/>
              </a:ext>
            </a:extLst>
          </p:cNvPr>
          <p:cNvSpPr/>
          <p:nvPr userDrawn="1"/>
        </p:nvSpPr>
        <p:spPr>
          <a:xfrm>
            <a:off x="411591" y="683505"/>
            <a:ext cx="610380" cy="115475"/>
          </a:xfrm>
          <a:prstGeom prst="rect">
            <a:avLst/>
          </a:prstGeom>
          <a:gradFill flip="none" rotWithShape="1">
            <a:gsLst>
              <a:gs pos="30000">
                <a:schemeClr val="accent3"/>
              </a:gs>
              <a:gs pos="100000">
                <a:schemeClr val="accent5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+mn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EDADCE-6BE7-A81D-385E-C5F2474002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206" y="6553697"/>
            <a:ext cx="860822" cy="1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2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30152C32-CB63-4602-92A7-F2DF900AFD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" y="8"/>
            <a:ext cx="9141713" cy="644821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E647ED82-88A9-4B24-A99C-2CC2E2A3D84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8479430" y="259654"/>
            <a:ext cx="407397" cy="583052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A552C-F798-FF4B-D03C-D36AB80570CB}"/>
              </a:ext>
            </a:extLst>
          </p:cNvPr>
          <p:cNvSpPr txBox="1"/>
          <p:nvPr userDrawn="1"/>
        </p:nvSpPr>
        <p:spPr>
          <a:xfrm>
            <a:off x="8659515" y="6489185"/>
            <a:ext cx="226745" cy="3688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B5D67274-A358-4A3D-B8D0-184382E74259}" type="slidenum">
              <a:rPr lang="en-US" sz="750" b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pPr algn="r"/>
              <a:t>‹#›</a:t>
            </a:fld>
            <a:endParaRPr lang="en-US" sz="750" b="1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D22399-DEDB-76BB-7F3F-0EF24AF1E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2023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960BFC-906F-4122-BDBB-DD202C072F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206" y="6553697"/>
            <a:ext cx="860822" cy="1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0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e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8610" y="248609"/>
            <a:ext cx="8505000" cy="473180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50" b="1" i="0" cap="none" spc="0" baseline="0">
                <a:solidFill>
                  <a:schemeClr val="tx2"/>
                </a:solidFill>
                <a:latin typeface="+mn-lt"/>
                <a:ea typeface="Montserrat" charset="0"/>
                <a:cs typeface="Montserrat" charset="0"/>
              </a:defRPr>
            </a:lvl1pPr>
          </a:lstStyle>
          <a:p>
            <a:pPr lvl="0"/>
            <a:r>
              <a:rPr lang="en-US" dirty="0"/>
              <a:t>Insert one-row title or abbreviate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08610" y="806760"/>
            <a:ext cx="8505000" cy="2460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350" b="0" i="0" cap="none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Use space to complete thoughts from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CE1679-379B-4197-8FCB-8B3296DC21B1}"/>
              </a:ext>
            </a:extLst>
          </p:cNvPr>
          <p:cNvCxnSpPr/>
          <p:nvPr userDrawn="1"/>
        </p:nvCxnSpPr>
        <p:spPr>
          <a:xfrm>
            <a:off x="5" y="6489177"/>
            <a:ext cx="914171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803819-E284-4564-BE57-FA2205462727}"/>
              </a:ext>
            </a:extLst>
          </p:cNvPr>
          <p:cNvCxnSpPr>
            <a:cxnSpLocks/>
          </p:cNvCxnSpPr>
          <p:nvPr userDrawn="1"/>
        </p:nvCxnSpPr>
        <p:spPr>
          <a:xfrm>
            <a:off x="307183" y="1146804"/>
            <a:ext cx="60903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94F9A078-513B-4F0C-8B5A-A2F4F977751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5" y="119654"/>
            <a:ext cx="9143999" cy="6328567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04709B-07E7-ED62-AA12-80DB84A50C13}"/>
              </a:ext>
            </a:extLst>
          </p:cNvPr>
          <p:cNvSpPr txBox="1"/>
          <p:nvPr userDrawn="1"/>
        </p:nvSpPr>
        <p:spPr>
          <a:xfrm>
            <a:off x="8659515" y="6489185"/>
            <a:ext cx="226745" cy="3688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B5D67274-A358-4A3D-B8D0-184382E74259}" type="slidenum">
              <a:rPr lang="en-US" sz="750" b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pPr algn="r"/>
              <a:t>‹#›</a:t>
            </a:fld>
            <a:endParaRPr lang="en-US" sz="750" b="1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13A9B-E52A-1D5D-950C-DA71A52034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© 2023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480B34-98CF-3331-FE96-57CB79A1B6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206" y="6553697"/>
            <a:ext cx="860822" cy="1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 xmlns:a16="http://schemas.microsoft.com/office/drawing/2014/main" xmlns:a14="http://schemas.microsoft.com/office/drawing/2010/main" xmlns:p15="http://schemas.microsoft.com/office/powerpoint/2012/main">
      <p:transition spd="slow" advClick="0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75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0173FA44-F569-CD62-F217-16F65F10C7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4"/>
          <a:stretch/>
        </p:blipFill>
        <p:spPr>
          <a:xfrm>
            <a:off x="3128483" y="2"/>
            <a:ext cx="6015519" cy="685800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7184" y="457200"/>
            <a:ext cx="8070699" cy="101325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Right"/>
          <p:cNvSpPr>
            <a:spLocks noGrp="1"/>
          </p:cNvSpPr>
          <p:nvPr>
            <p:ph idx="1"/>
          </p:nvPr>
        </p:nvSpPr>
        <p:spPr>
          <a:xfrm>
            <a:off x="3892382" y="1767025"/>
            <a:ext cx="4994447" cy="4674869"/>
          </a:xfrm>
        </p:spPr>
        <p:txBody>
          <a:bodyPr lIns="0" tIns="0" rIns="0" bIns="0">
            <a:no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500">
                <a:solidFill>
                  <a:schemeClr val="tx2"/>
                </a:solidFill>
              </a:defRPr>
            </a:lvl2pPr>
            <a:lvl3pPr>
              <a:defRPr sz="135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Left"/>
          <p:cNvSpPr>
            <a:spLocks noGrp="1"/>
          </p:cNvSpPr>
          <p:nvPr>
            <p:ph type="body" sz="half" idx="2"/>
          </p:nvPr>
        </p:nvSpPr>
        <p:spPr>
          <a:xfrm>
            <a:off x="307182" y="1767018"/>
            <a:ext cx="3223260" cy="46671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5" y="6489177"/>
            <a:ext cx="914171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E005963-419B-4072-AD9C-CB5C1965DB8C}"/>
              </a:ext>
            </a:extLst>
          </p:cNvPr>
          <p:cNvSpPr/>
          <p:nvPr userDrawn="1"/>
        </p:nvSpPr>
        <p:spPr>
          <a:xfrm>
            <a:off x="411591" y="1493063"/>
            <a:ext cx="610380" cy="115475"/>
          </a:xfrm>
          <a:prstGeom prst="rect">
            <a:avLst/>
          </a:prstGeom>
          <a:gradFill flip="none" rotWithShape="1">
            <a:gsLst>
              <a:gs pos="30000">
                <a:schemeClr val="accent3"/>
              </a:gs>
              <a:gs pos="100000">
                <a:schemeClr val="accent5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+mn-lt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D881EB70-6ED1-46F5-BCF9-DAAF4B2FA12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94643" y="1470459"/>
            <a:ext cx="8605520" cy="4977759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DA6CEEAE-8885-4F7A-AF87-41B6DF3639B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8479430" y="259654"/>
            <a:ext cx="407397" cy="583052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7A7B93-FB25-F123-9DF0-86D9617D6ECC}"/>
              </a:ext>
            </a:extLst>
          </p:cNvPr>
          <p:cNvSpPr txBox="1"/>
          <p:nvPr userDrawn="1"/>
        </p:nvSpPr>
        <p:spPr>
          <a:xfrm>
            <a:off x="8659515" y="6489185"/>
            <a:ext cx="226745" cy="3688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B5D67274-A358-4A3D-B8D0-184382E74259}" type="slidenum">
              <a:rPr lang="en-US" sz="750" b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pPr algn="r"/>
              <a:t>‹#›</a:t>
            </a:fld>
            <a:endParaRPr lang="en-US" sz="750" b="1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9C8FB-3667-DD43-25BC-0FE3FB0BF6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2023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5775657-3286-B82E-34CB-5A33126801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206" y="6553697"/>
            <a:ext cx="860822" cy="1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6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bg>
      <p:bgPr>
        <a:gradFill flip="none" rotWithShape="1">
          <a:gsLst>
            <a:gs pos="30000">
              <a:schemeClr val="tx2"/>
            </a:gs>
            <a:gs pos="9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4115" y="4"/>
            <a:ext cx="5959889" cy="685799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720090" y="5476759"/>
            <a:ext cx="2402484" cy="58477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617 Davis Drive, Suite 100</a:t>
            </a:r>
            <a:br>
              <a:rPr lang="en-US" sz="12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</a:br>
            <a:r>
              <a:rPr lang="en-US" sz="12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Morrisville, NC 27560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192668" y="5476759"/>
            <a:ext cx="1700400" cy="58477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12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phone </a:t>
            </a:r>
            <a:r>
              <a:rPr lang="hr-HR" sz="1200" b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(</a:t>
            </a:r>
            <a:r>
              <a:rPr lang="hr-HR" sz="12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919)</a:t>
            </a:r>
            <a:r>
              <a:rPr lang="hr-HR" sz="1200" baseline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</a:t>
            </a:r>
            <a:r>
              <a:rPr lang="hr-HR" sz="12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572-1711</a:t>
            </a:r>
          </a:p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12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fax </a:t>
            </a:r>
            <a:r>
              <a:rPr lang="hr-HR" sz="1200" b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(</a:t>
            </a:r>
            <a:r>
              <a:rPr lang="hr-HR" sz="12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919)</a:t>
            </a:r>
            <a:r>
              <a:rPr lang="hr-HR" sz="1200" baseline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</a:t>
            </a:r>
            <a:r>
              <a:rPr lang="hr-HR" sz="12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572-1721</a:t>
            </a:r>
            <a:endParaRPr lang="en-US" sz="12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5258153" y="5476752"/>
            <a:ext cx="2402484" cy="3385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accent3"/>
                </a:solidFill>
                <a:latin typeface="Montserrat" charset="0"/>
                <a:ea typeface="Montserrat" charset="0"/>
                <a:cs typeface="Montserrat" charset="0"/>
              </a:rPr>
              <a:t>www.metabolon.com</a:t>
            </a: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A86B727C-354C-4162-B243-1D535CA5537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07183" y="1323975"/>
            <a:ext cx="8605520" cy="514918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C0C2F721-3A82-EE65-9731-22E6F0BB599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20090" y="440882"/>
            <a:ext cx="6766560" cy="96904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>
              <a:defRPr sz="3000" b="1" spc="-113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327E1B0F-74BF-4CBE-1913-C39A29C0A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90" y="1507471"/>
            <a:ext cx="6766560" cy="1846659"/>
          </a:xfrm>
        </p:spPr>
        <p:txBody>
          <a:bodyPr vert="horz"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2C2D653-E47E-2801-E627-1EED8AE250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90" y="3870741"/>
            <a:ext cx="4312800" cy="12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0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- RED">
    <p:bg>
      <p:bgPr>
        <a:gradFill flip="none" rotWithShape="1">
          <a:gsLst>
            <a:gs pos="60000">
              <a:schemeClr val="accent3"/>
            </a:gs>
            <a:gs pos="100000">
              <a:schemeClr val="accent5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4112" y="4"/>
            <a:ext cx="5959891" cy="685799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23888" y="1709746"/>
            <a:ext cx="7886700" cy="2852737"/>
          </a:xfrm>
          <a:prstGeom prst="rect">
            <a:avLst/>
          </a:prstGeom>
        </p:spPr>
        <p:txBody>
          <a:bodyPr vert="horz" wrap="square" lIns="0" tIns="0" rIns="0" bIns="0" anchor="b">
            <a:noAutofit/>
          </a:bodyPr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623888" y="4721991"/>
            <a:ext cx="7886700" cy="1500187"/>
          </a:xfrm>
        </p:spPr>
        <p:txBody>
          <a:bodyPr vert="horz" wrap="square"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FFE26C4B-5EB7-4894-82F7-0FFA1FB9613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94643" y="585976"/>
            <a:ext cx="8605520" cy="586223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95826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PURPLE">
    <p:bg>
      <p:bgPr>
        <a:gradFill flip="none" rotWithShape="1">
          <a:gsLst>
            <a:gs pos="30000">
              <a:schemeClr val="accent4"/>
            </a:gs>
            <a:gs pos="100000">
              <a:schemeClr val="accent3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4112" y="4"/>
            <a:ext cx="5959891" cy="6857999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79706773-CA15-49A3-96ED-26A0AF7EB2C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94643" y="585976"/>
            <a:ext cx="8605520" cy="586223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03E11109-ECD4-E3F3-0EDA-6AC3D0502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6"/>
            <a:ext cx="7886700" cy="2852737"/>
          </a:xfrm>
          <a:prstGeom prst="rect">
            <a:avLst/>
          </a:prstGeom>
        </p:spPr>
        <p:txBody>
          <a:bodyPr vert="horz" wrap="square" lIns="0" tIns="0" rIns="0" bIns="0" anchor="b">
            <a:noAutofit/>
          </a:bodyPr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61866A33-BCA1-3F52-D8D4-4ED3F84C7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721991"/>
            <a:ext cx="7886700" cy="1500187"/>
          </a:xfrm>
        </p:spPr>
        <p:txBody>
          <a:bodyPr vert="horz" wrap="square"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0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BLUE">
    <p:bg>
      <p:bgPr>
        <a:gradFill flip="none" rotWithShape="1">
          <a:gsLst>
            <a:gs pos="30000">
              <a:schemeClr val="accent2"/>
            </a:gs>
            <a:gs pos="10000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4115" y="4"/>
            <a:ext cx="5959889" cy="6857999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E2DD4765-8E1E-4C53-874D-4F1DB224DA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94643" y="585976"/>
            <a:ext cx="8605520" cy="586223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74642C26-BE72-0485-F6B3-B652C08FA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6"/>
            <a:ext cx="7886700" cy="2852737"/>
          </a:xfrm>
          <a:prstGeom prst="rect">
            <a:avLst/>
          </a:prstGeom>
        </p:spPr>
        <p:txBody>
          <a:bodyPr vert="horz" wrap="square" lIns="0" tIns="0" rIns="0" bIns="0" anchor="b">
            <a:noAutofit/>
          </a:bodyPr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BE0DDFC1-C280-EBED-2134-5F6EA10EA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721991"/>
            <a:ext cx="7886700" cy="1500187"/>
          </a:xfrm>
        </p:spPr>
        <p:txBody>
          <a:bodyPr vert="horz" wrap="square"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9240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DARK">
    <p:bg>
      <p:bgPr>
        <a:gradFill flip="none" rotWithShape="1">
          <a:gsLst>
            <a:gs pos="30000">
              <a:schemeClr val="tx1"/>
            </a:gs>
            <a:gs pos="9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4115" y="4"/>
            <a:ext cx="5959889" cy="6857999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174A6964-5F63-4217-8985-1E4A9E3C351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94643" y="585976"/>
            <a:ext cx="8605520" cy="586223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5E9146A8-3D13-8735-C187-9E181DD3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6"/>
            <a:ext cx="7886700" cy="2852737"/>
          </a:xfrm>
          <a:prstGeom prst="rect">
            <a:avLst/>
          </a:prstGeom>
        </p:spPr>
        <p:txBody>
          <a:bodyPr vert="horz" wrap="square" lIns="0" tIns="0" rIns="0" bIns="0" anchor="b">
            <a:noAutofit/>
          </a:bodyPr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F57AA8EE-AB0E-710B-7CFF-8E9F90CAC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721991"/>
            <a:ext cx="7886700" cy="1500187"/>
          </a:xfrm>
        </p:spPr>
        <p:txBody>
          <a:bodyPr vert="horz" wrap="square"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613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6E34EB-5277-4D44-8F3C-1D7732C4CE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79" y="0"/>
            <a:ext cx="7946521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93956"/>
            <a:ext cx="8229600" cy="487362"/>
          </a:xfrm>
        </p:spPr>
        <p:txBody>
          <a:bodyPr>
            <a:normAutofit/>
          </a:bodyPr>
          <a:lstStyle>
            <a:lvl1pPr algn="l">
              <a:defRPr lang="en-US" sz="2900" b="1" kern="1200" baseline="0" dirty="0" smtClean="0">
                <a:solidFill>
                  <a:schemeClr val="tx2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520C-6070-49E2-B459-CDB0BDCBA57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DC7452-C888-E148-A136-1C4C987FC7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770" y="189714"/>
            <a:ext cx="380059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7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5B743F32-9704-3CA8-A998-6B9380D4A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4"/>
          <a:stretch/>
        </p:blipFill>
        <p:spPr>
          <a:xfrm>
            <a:off x="3128483" y="2"/>
            <a:ext cx="6015519" cy="685800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1790E-F393-4D54-851C-BB608BB2D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157" y="1337986"/>
            <a:ext cx="8577103" cy="50961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2A12F6-666B-4E0D-A4B5-52892A170BE3}"/>
              </a:ext>
            </a:extLst>
          </p:cNvPr>
          <p:cNvCxnSpPr/>
          <p:nvPr userDrawn="1"/>
        </p:nvCxnSpPr>
        <p:spPr>
          <a:xfrm>
            <a:off x="5" y="6489177"/>
            <a:ext cx="914171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mpower - DO NOT DELETE!!!" hidden="1">
            <a:extLst>
              <a:ext uri="{FF2B5EF4-FFF2-40B4-BE49-F238E27FC236}">
                <a16:creationId xmlns:a16="http://schemas.microsoft.com/office/drawing/2014/main" id="{1336EDBF-950E-4B4C-9130-3AEEF70A1B56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463974-C97E-CC67-DC12-9B27B9186A68}"/>
              </a:ext>
            </a:extLst>
          </p:cNvPr>
          <p:cNvSpPr txBox="1"/>
          <p:nvPr userDrawn="1"/>
        </p:nvSpPr>
        <p:spPr>
          <a:xfrm>
            <a:off x="8659515" y="6489185"/>
            <a:ext cx="226745" cy="3688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B5D67274-A358-4A3D-B8D0-184382E74259}" type="slidenum">
              <a:rPr lang="en-US" sz="750" b="1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pPr algn="r"/>
              <a:t>‹#›</a:t>
            </a:fld>
            <a:endParaRPr lang="en-US" sz="750" b="1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1B45E-87FD-1DB4-A3F7-1A6C022B5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01302" y="6489183"/>
            <a:ext cx="2897774" cy="368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F5F1C3-B051-6CFB-A58E-F9DB8A5A821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2206" y="6553697"/>
            <a:ext cx="860822" cy="1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0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6" r:id="rId3"/>
    <p:sldLayoutId id="2147483680" r:id="rId4"/>
    <p:sldLayoutId id="2147483704" r:id="rId5"/>
    <p:sldLayoutId id="2147483684" r:id="rId6"/>
    <p:sldLayoutId id="2147483661" r:id="rId7"/>
    <p:sldLayoutId id="2147483663" r:id="rId8"/>
    <p:sldLayoutId id="2147483666" r:id="rId9"/>
    <p:sldLayoutId id="2147483667" r:id="rId10"/>
    <p:sldLayoutId id="2147483668" r:id="rId11"/>
    <p:sldLayoutId id="2147483669" r:id="rId12"/>
    <p:sldLayoutId id="2147483705" r:id="rId13"/>
  </p:sldLayoutIdLst>
  <p:hf sldNum="0"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94" userDrawn="1">
          <p15:clr>
            <a:srgbClr val="F26B43"/>
          </p15:clr>
        </p15:guide>
        <p15:guide id="3" pos="5598" userDrawn="1">
          <p15:clr>
            <a:srgbClr val="F26B43"/>
          </p15:clr>
        </p15:guide>
        <p15:guide id="4" orient="horz" pos="4053" userDrawn="1">
          <p15:clr>
            <a:srgbClr val="F26B43"/>
          </p15:clr>
        </p15:guide>
        <p15:guide id="5" orient="horz" pos="8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B03A-5FDB-4B44-A33F-DF102F2A3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1" y="2108537"/>
            <a:ext cx="8135105" cy="1344215"/>
          </a:xfrm>
          <a:prstGeom prst="rect">
            <a:avLst/>
          </a:prstGeom>
        </p:spPr>
        <p:txBody>
          <a:bodyPr/>
          <a:lstStyle/>
          <a:p>
            <a:r>
              <a:rPr lang="en-US" sz="3600" dirty="0"/>
              <a:t>Investigating the effects of fecal microbial transplantation (FMT) in both a murine model and in human patients suffering from IBD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E9B1B-D49B-4255-846D-2669177C92D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28651" y="4136722"/>
            <a:ext cx="6388838" cy="2132740"/>
          </a:xfrm>
        </p:spPr>
        <p:txBody>
          <a:bodyPr/>
          <a:lstStyle/>
          <a:p>
            <a:pPr eaLnBrk="0" hangingPunct="0">
              <a:defRPr/>
            </a:pPr>
            <a:endParaRPr lang="en-US" dirty="0">
              <a:solidFill>
                <a:schemeClr val="bg1"/>
              </a:solidFill>
              <a:effectLst>
                <a:outerShdw dist="38100" sx="1000" sy="1000" algn="tl">
                  <a:srgbClr val="C0C0C0"/>
                </a:outerShdw>
              </a:effectLst>
              <a:latin typeface="Montserrat" pitchFamily="2" charset="77"/>
            </a:endParaRPr>
          </a:p>
          <a:p>
            <a:pPr marL="0" indent="0" eaLnBrk="0" hangingPunct="0">
              <a:buNone/>
              <a:defRPr/>
            </a:pPr>
            <a:r>
              <a:rPr lang="en-US" dirty="0">
                <a:solidFill>
                  <a:schemeClr val="bg1"/>
                </a:solidFill>
                <a:effectLst>
                  <a:outerShdw dist="38100" sx="1000" sy="1000" algn="tl">
                    <a:srgbClr val="C0C0C0"/>
                  </a:outerShdw>
                </a:effectLst>
                <a:latin typeface="Montserrat" pitchFamily="2" charset="77"/>
              </a:rPr>
              <a:t>Hôpital Saint-Antoine (AP-HP)</a:t>
            </a:r>
          </a:p>
          <a:p>
            <a:pPr marL="0" indent="0" eaLnBrk="0" hangingPunct="0">
              <a:buNone/>
              <a:defRPr/>
            </a:pPr>
            <a:r>
              <a:rPr lang="en-US" dirty="0">
                <a:solidFill>
                  <a:schemeClr val="bg1"/>
                </a:solidFill>
                <a:effectLst>
                  <a:outerShdw dist="38100" sx="1000" sy="1000" algn="tl">
                    <a:srgbClr val="C0C0C0"/>
                  </a:outerShdw>
                </a:effectLst>
                <a:latin typeface="Montserrat" pitchFamily="2" charset="77"/>
              </a:rPr>
              <a:t>Harry Sokol, MD, PhD</a:t>
            </a:r>
          </a:p>
          <a:p>
            <a:pPr marL="0" indent="0" eaLnBrk="0" hangingPunct="0">
              <a:buNone/>
              <a:defRPr/>
            </a:pPr>
            <a:r>
              <a:rPr lang="en-US" dirty="0">
                <a:solidFill>
                  <a:schemeClr val="bg1"/>
                </a:solidFill>
                <a:effectLst>
                  <a:outerShdw dist="38100" sx="1000" sy="1000" algn="tl">
                    <a:srgbClr val="C0C0C0"/>
                  </a:outerShdw>
                </a:effectLst>
                <a:latin typeface="Montserrat" pitchFamily="2" charset="77"/>
              </a:rPr>
              <a:t>HSAE-01-24MD+</a:t>
            </a:r>
          </a:p>
          <a:p>
            <a:pPr marL="0" indent="0" eaLnBrk="0" hangingPunct="0">
              <a:buNone/>
              <a:defRPr/>
            </a:pPr>
            <a:r>
              <a:rPr lang="en-US" dirty="0">
                <a:solidFill>
                  <a:schemeClr val="bg1"/>
                </a:solidFill>
                <a:effectLst>
                  <a:outerShdw dist="38100" sx="1000" sy="1000" algn="tl">
                    <a:srgbClr val="C0C0C0"/>
                  </a:outerShdw>
                </a:effectLst>
                <a:latin typeface="Montserrat" pitchFamily="2" charset="77"/>
              </a:rPr>
              <a:t>May 29, 2025</a:t>
            </a:r>
          </a:p>
          <a:p>
            <a:pPr marL="0" indent="0" eaLnBrk="0" hangingPunct="0">
              <a:buNone/>
              <a:defRPr/>
            </a:pPr>
            <a:r>
              <a:rPr lang="en-US" dirty="0">
                <a:solidFill>
                  <a:schemeClr val="bg1"/>
                </a:solidFill>
                <a:effectLst>
                  <a:outerShdw dist="38100" sx="1000" sy="1000" algn="tl">
                    <a:srgbClr val="C0C0C0"/>
                  </a:outerShdw>
                </a:effectLst>
                <a:latin typeface="Montserrat" pitchFamily="2" charset="77"/>
              </a:rPr>
              <a:t>Brian Ingram, PhD</a:t>
            </a:r>
          </a:p>
        </p:txBody>
      </p:sp>
    </p:spTree>
    <p:extLst>
      <p:ext uri="{BB962C8B-B14F-4D97-AF65-F5344CB8AC3E}">
        <p14:creationId xmlns:p14="http://schemas.microsoft.com/office/powerpoint/2010/main" val="343529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BD913-0560-B9F4-CBD4-917498387E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00CFF2-8D1A-3557-9A91-5EB104C04FB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 dirty="0"/>
              <a:t>Study Overview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612E4DE-27D1-7E7B-E0D1-42AECE3DD47A}"/>
              </a:ext>
            </a:extLst>
          </p:cNvPr>
          <p:cNvSpPr txBox="1">
            <a:spLocks/>
          </p:cNvSpPr>
          <p:nvPr/>
        </p:nvSpPr>
        <p:spPr>
          <a:xfrm>
            <a:off x="307184" y="3603814"/>
            <a:ext cx="8579645" cy="12213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Study Design</a:t>
            </a:r>
          </a:p>
          <a:p>
            <a:pPr marL="457200" lvl="1" indent="0">
              <a:buNone/>
            </a:pPr>
            <a:r>
              <a:rPr lang="en-US" dirty="0"/>
              <a:t>Metabolon received 32 mouse plasma, 32 mouse cecum contents, 33 human plasma and 31 human feces samples on April 9</a:t>
            </a:r>
            <a:r>
              <a:rPr lang="en-US" baseline="30000" dirty="0"/>
              <a:t>th</a:t>
            </a:r>
            <a:r>
              <a:rPr lang="en-US" dirty="0"/>
              <a:t>, 2025.  Global metabolic profiles were determined from the experimental groups outlined in the tables on the following slides.</a:t>
            </a:r>
          </a:p>
          <a:p>
            <a:pPr lvl="1"/>
            <a:endParaRPr lang="en-US" sz="150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DA2737E-6248-63B4-73C9-B52B17F26798}"/>
              </a:ext>
            </a:extLst>
          </p:cNvPr>
          <p:cNvSpPr txBox="1">
            <a:spLocks/>
          </p:cNvSpPr>
          <p:nvPr/>
        </p:nvSpPr>
        <p:spPr>
          <a:xfrm>
            <a:off x="307184" y="1331126"/>
            <a:ext cx="8579645" cy="12213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Study</a:t>
            </a:r>
            <a:r>
              <a:rPr lang="en-US" sz="2800" dirty="0"/>
              <a:t> </a:t>
            </a:r>
            <a:r>
              <a:rPr lang="en-US" dirty="0"/>
              <a:t>Objective</a:t>
            </a:r>
            <a:endParaRPr lang="en-US" sz="2800" dirty="0"/>
          </a:p>
          <a:p>
            <a:pPr marL="457200" lvl="1" indent="0">
              <a:buNone/>
            </a:pPr>
            <a:r>
              <a:rPr lang="en-US" dirty="0"/>
              <a:t>The goal of this study was to investigate the effects of FMT in germ free mice and the effects of FMT (from healthy human donors) on IBD patients. </a:t>
            </a:r>
          </a:p>
        </p:txBody>
      </p:sp>
    </p:spTree>
    <p:extLst>
      <p:ext uri="{BB962C8B-B14F-4D97-AF65-F5344CB8AC3E}">
        <p14:creationId xmlns:p14="http://schemas.microsoft.com/office/powerpoint/2010/main" val="372554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4964-3F3D-7293-FACD-48030698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9150C-4A82-1671-C137-74C25C63DA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FF1FAF-5511-D4B0-CD83-CE83A998427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 dirty="0"/>
              <a:t>Study Overview (Mouse Arm)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97546-8BAC-3373-8C04-92E53C370217}"/>
              </a:ext>
            </a:extLst>
          </p:cNvPr>
          <p:cNvSpPr txBox="1"/>
          <p:nvPr/>
        </p:nvSpPr>
        <p:spPr>
          <a:xfrm>
            <a:off x="307184" y="130915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Matrix (1): Mouse plasma</a:t>
            </a:r>
            <a:r>
              <a:rPr lang="en-US" dirty="0"/>
              <a:t>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0E702C-7244-F788-3B92-83F0B1B30B93}"/>
              </a:ext>
            </a:extLst>
          </p:cNvPr>
          <p:cNvSpPr txBox="1"/>
          <p:nvPr/>
        </p:nvSpPr>
        <p:spPr>
          <a:xfrm>
            <a:off x="307184" y="351082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Matrix (2): Mouse cecum contents</a:t>
            </a:r>
            <a:r>
              <a:rPr lang="en-US" dirty="0"/>
              <a:t>	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D40606-096A-D5A9-D1FC-B3746BECF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402839"/>
              </p:ext>
            </p:extLst>
          </p:nvPr>
        </p:nvGraphicFramePr>
        <p:xfrm>
          <a:off x="1881264" y="1908244"/>
          <a:ext cx="5368925" cy="1143000"/>
        </p:xfrm>
        <a:graphic>
          <a:graphicData uri="http://schemas.openxmlformats.org/drawingml/2006/table">
            <a:tbl>
              <a:tblPr firstRow="1" firstCol="1" bandRow="1"/>
              <a:tblGrid>
                <a:gridCol w="964305">
                  <a:extLst>
                    <a:ext uri="{9D8B030D-6E8A-4147-A177-3AD203B41FA5}">
                      <a16:colId xmlns:a16="http://schemas.microsoft.com/office/drawing/2014/main" val="1243549886"/>
                    </a:ext>
                  </a:extLst>
                </a:gridCol>
                <a:gridCol w="4061720">
                  <a:extLst>
                    <a:ext uri="{9D8B030D-6E8A-4147-A177-3AD203B41FA5}">
                      <a16:colId xmlns:a16="http://schemas.microsoft.com/office/drawing/2014/main" val="4344333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1484045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Group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Description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1073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GF_FMT_Aged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Serum samples from germ free Mice who received FMT from “old” mice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3497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GF_FMT_Young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Serum samples from germ free Mice who received FMT from “young” mice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4923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Aged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Serum samples from “old” mice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31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Young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Verdana" panose="020B060403050404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Serum samples from “young” mice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44167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FD8C677-A703-76CC-48A0-90BC06E45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684560"/>
              </p:ext>
            </p:extLst>
          </p:nvPr>
        </p:nvGraphicFramePr>
        <p:xfrm>
          <a:off x="2030411" y="4109910"/>
          <a:ext cx="5219778" cy="1143000"/>
        </p:xfrm>
        <a:graphic>
          <a:graphicData uri="http://schemas.openxmlformats.org/drawingml/2006/table">
            <a:tbl>
              <a:tblPr firstRow="1" firstCol="1" bandRow="1"/>
              <a:tblGrid>
                <a:gridCol w="995629">
                  <a:extLst>
                    <a:ext uri="{9D8B030D-6E8A-4147-A177-3AD203B41FA5}">
                      <a16:colId xmlns:a16="http://schemas.microsoft.com/office/drawing/2014/main" val="1708596036"/>
                    </a:ext>
                  </a:extLst>
                </a:gridCol>
                <a:gridCol w="3872034">
                  <a:extLst>
                    <a:ext uri="{9D8B030D-6E8A-4147-A177-3AD203B41FA5}">
                      <a16:colId xmlns:a16="http://schemas.microsoft.com/office/drawing/2014/main" val="1541901609"/>
                    </a:ext>
                  </a:extLst>
                </a:gridCol>
                <a:gridCol w="352115">
                  <a:extLst>
                    <a:ext uri="{9D8B030D-6E8A-4147-A177-3AD203B41FA5}">
                      <a16:colId xmlns:a16="http://schemas.microsoft.com/office/drawing/2014/main" val="372253234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Group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Description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3502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GF_FMT_Aged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Coecum samples from Mice who received FMT from “old” mice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2245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GF_FMT_Young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Coecum samples from Mice who received FMT from “young” mice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90716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Aged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Coecum samples from “old” mice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113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Young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Coecum samples from “young” mice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66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229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909FD-A30C-101F-FBAF-8346BEA2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2538F-AC1E-235E-7263-83276723A7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1B93BF-D1FD-9462-FED5-21F9CE7EF98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 dirty="0"/>
              <a:t>Study Overview (Human Arm)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B13C3-0D6D-F323-718A-640CC3D3FBDB}"/>
              </a:ext>
            </a:extLst>
          </p:cNvPr>
          <p:cNvSpPr txBox="1"/>
          <p:nvPr/>
        </p:nvSpPr>
        <p:spPr>
          <a:xfrm>
            <a:off x="307184" y="130915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Matrix (3): Human plasma</a:t>
            </a:r>
            <a:r>
              <a:rPr lang="en-US" dirty="0"/>
              <a:t>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71CCE-997C-1A05-C63A-7D037A797B9C}"/>
              </a:ext>
            </a:extLst>
          </p:cNvPr>
          <p:cNvSpPr txBox="1"/>
          <p:nvPr/>
        </p:nvSpPr>
        <p:spPr>
          <a:xfrm>
            <a:off x="307184" y="312698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Matrix (4): Human feces* </a:t>
            </a:r>
            <a:r>
              <a:rPr lang="en-US" dirty="0"/>
              <a:t>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91B788-F100-8630-20C9-3E955C31F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02951"/>
              </p:ext>
            </p:extLst>
          </p:nvPr>
        </p:nvGraphicFramePr>
        <p:xfrm>
          <a:off x="1430338" y="1979799"/>
          <a:ext cx="6283324" cy="914400"/>
        </p:xfrm>
        <a:graphic>
          <a:graphicData uri="http://schemas.openxmlformats.org/drawingml/2006/table">
            <a:tbl>
              <a:tblPr firstRow="1" firstCol="1" bandRow="1"/>
              <a:tblGrid>
                <a:gridCol w="963123">
                  <a:extLst>
                    <a:ext uri="{9D8B030D-6E8A-4147-A177-3AD203B41FA5}">
                      <a16:colId xmlns:a16="http://schemas.microsoft.com/office/drawing/2014/main" val="3728456808"/>
                    </a:ext>
                  </a:extLst>
                </a:gridCol>
                <a:gridCol w="4445750">
                  <a:extLst>
                    <a:ext uri="{9D8B030D-6E8A-4147-A177-3AD203B41FA5}">
                      <a16:colId xmlns:a16="http://schemas.microsoft.com/office/drawing/2014/main" val="3359780600"/>
                    </a:ext>
                  </a:extLst>
                </a:gridCol>
                <a:gridCol w="874451">
                  <a:extLst>
                    <a:ext uri="{9D8B030D-6E8A-4147-A177-3AD203B41FA5}">
                      <a16:colId xmlns:a16="http://schemas.microsoft.com/office/drawing/2014/main" val="246570188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Group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Description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6204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Pre_FMT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Serum samples from patients before FMT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0404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Post_FMT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Serum samples from patients after FMT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3065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Healthy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Serum samples from healthy human controls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14202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A71E9D-5CC8-A423-B625-5FED4C4AD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275877"/>
              </p:ext>
            </p:extLst>
          </p:nvPr>
        </p:nvGraphicFramePr>
        <p:xfrm>
          <a:off x="1430337" y="3731132"/>
          <a:ext cx="6283325" cy="1795712"/>
        </p:xfrm>
        <a:graphic>
          <a:graphicData uri="http://schemas.openxmlformats.org/drawingml/2006/table">
            <a:tbl>
              <a:tblPr firstRow="1" firstCol="1" bandRow="1"/>
              <a:tblGrid>
                <a:gridCol w="854075">
                  <a:extLst>
                    <a:ext uri="{9D8B030D-6E8A-4147-A177-3AD203B41FA5}">
                      <a16:colId xmlns:a16="http://schemas.microsoft.com/office/drawing/2014/main" val="391958838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195800718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642267641"/>
                    </a:ext>
                  </a:extLst>
                </a:gridCol>
              </a:tblGrid>
              <a:tr h="2649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Group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Description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05662"/>
                  </a:ext>
                </a:extLst>
              </a:tr>
              <a:tr h="5876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Pre_FMT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Fecal samples from patients with C difficile infection before FMT from healthy human donors. (N.B. treated with EtOH.)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403926"/>
                  </a:ext>
                </a:extLst>
              </a:tr>
              <a:tr h="4475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Post_FMT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Verdana" panose="020B060403050404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Fecal samples from patients with C difficile infection 10 weeks after FMT from healthy human donors. (N.B. treated with EtOH.)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463293"/>
                  </a:ext>
                </a:extLst>
              </a:tr>
              <a:tr h="4954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Healthy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Verdana" panose="020B060403050404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Fecal samples from healthy human donors used for FMT. 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800" dirty="0">
                          <a:effectLst/>
                          <a:latin typeface="Verdana" panose="020B060403050404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N.B. snap-frozen.)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00414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D36291-8E93-A946-328F-11DAD2EF9BCD}"/>
              </a:ext>
            </a:extLst>
          </p:cNvPr>
          <p:cNvSpPr txBox="1"/>
          <p:nvPr/>
        </p:nvSpPr>
        <p:spPr>
          <a:xfrm>
            <a:off x="1179320" y="5576272"/>
            <a:ext cx="699046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buNone/>
            </a:pPr>
            <a:r>
              <a:rPr lang="en-US" sz="11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 algn="just"/>
            <a:r>
              <a:rPr lang="en-US" sz="11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It is noted that 21 of human stool samples were collected  in 95% ethanol, specifically those from the “</a:t>
            </a:r>
            <a:r>
              <a:rPr lang="en-US" sz="11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Pre_FMT</a:t>
            </a:r>
            <a:r>
              <a:rPr lang="en-US" sz="11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and “</a:t>
            </a:r>
            <a:r>
              <a:rPr lang="en-US" sz="11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Post_FMT</a:t>
            </a:r>
            <a:r>
              <a:rPr lang="en-US" sz="11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groups.  Fecal samples from the remaining 10 “healthy” subjects were provided as fresh frozen samples.  All samples were dried and processed on an equivalent dry weight basis.  </a:t>
            </a:r>
          </a:p>
          <a:p>
            <a:pPr algn="l"/>
            <a:endParaRPr lang="en-US" sz="16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2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6DDDB-0493-D609-3462-25E04F4B1AA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 noProof="0" dirty="0">
                <a:latin typeface="Montserrat" panose="00000500000000000000" pitchFamily="2" charset="0"/>
              </a:rPr>
              <a:t>Statistical Analyses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A9415-EB61-1554-06C0-1076941C035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64358" y="1015650"/>
            <a:ext cx="8579644" cy="166092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Matched Pairs t-test and Welch’s two sample t-test were used to determine whether the means of two populations were different</a:t>
            </a:r>
          </a:p>
          <a:p>
            <a:pPr marL="342892" lvl="1" indent="0" defTabSz="342892">
              <a:buNone/>
            </a:pPr>
            <a:r>
              <a:rPr lang="en-US" sz="1600" i="1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p</a:t>
            </a: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-value: evidence that the means are different (smaller is better)</a:t>
            </a:r>
          </a:p>
          <a:p>
            <a:pPr defTabSz="342892"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		</a:t>
            </a:r>
            <a:r>
              <a:rPr lang="en-US" sz="1600" i="1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q</a:t>
            </a: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-value: estimate of the false discovery rate (smaller is better)</a:t>
            </a:r>
          </a:p>
          <a:p>
            <a:pPr defTabSz="342892"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		</a:t>
            </a:r>
            <a:r>
              <a:rPr lang="en-US" sz="1600" i="1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p</a:t>
            </a: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 ≤ 0.05 was taken as significant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CB7C15-E6D0-F07C-CF8B-5F78CA58DA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945"/>
          <a:stretch/>
        </p:blipFill>
        <p:spPr>
          <a:xfrm>
            <a:off x="821554" y="4789131"/>
            <a:ext cx="7500893" cy="10308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DFB55F-87F8-EC26-D9CD-2A81B098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527" y="3244362"/>
            <a:ext cx="5284947" cy="1525305"/>
          </a:xfrm>
          <a:prstGeom prst="rect">
            <a:avLst/>
          </a:prstGeom>
        </p:spPr>
      </p:pic>
      <p:sp>
        <p:nvSpPr>
          <p:cNvPr id="6" name="Text Box 23">
            <a:extLst>
              <a:ext uri="{FF2B5EF4-FFF2-40B4-BE49-F238E27FC236}">
                <a16:creationId xmlns:a16="http://schemas.microsoft.com/office/drawing/2014/main" id="{B9316969-0938-B1E5-D88C-E5A9E0D1D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143" y="2824789"/>
            <a:ext cx="33057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342892"/>
            <a:r>
              <a:rPr lang="en-US" sz="2000" b="1" dirty="0">
                <a:solidFill>
                  <a:srgbClr val="4F9FCC"/>
                </a:solidFill>
                <a:latin typeface="+mj-lt"/>
                <a:ea typeface="+mj-ea"/>
                <a:cs typeface="+mj-cs"/>
              </a:rPr>
              <a:t>Sample Statistics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0FC33-1A7C-CAAC-93AA-DE655E796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009" y="5983789"/>
            <a:ext cx="63759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4D4D4D"/>
                </a:solidFill>
                <a:latin typeface="+mj-lt"/>
              </a:rPr>
              <a:t>The full table is supplied as a separate excel file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1DB71B3-3FEF-2431-CA87-06A1C34EDB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7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583276-DC1A-0AF0-D3A1-AFF17194DE6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Statistical Summary – Mouse Study Arm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6459910-101B-A649-5829-08C8BAB5B7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52C4F-8930-B1FC-ADA2-8DA1C4596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39756"/>
              </p:ext>
            </p:extLst>
          </p:nvPr>
        </p:nvGraphicFramePr>
        <p:xfrm>
          <a:off x="965200" y="1485900"/>
          <a:ext cx="7213600" cy="1943100"/>
        </p:xfrm>
        <a:graphic>
          <a:graphicData uri="http://schemas.openxmlformats.org/drawingml/2006/table">
            <a:tbl>
              <a:tblPr/>
              <a:tblGrid>
                <a:gridCol w="1342654">
                  <a:extLst>
                    <a:ext uri="{9D8B030D-6E8A-4147-A177-3AD203B41FA5}">
                      <a16:colId xmlns:a16="http://schemas.microsoft.com/office/drawing/2014/main" val="2227380029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1278668233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1278073858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3821202719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1140844947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3346688214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2082092484"/>
                    </a:ext>
                  </a:extLst>
                </a:gridCol>
              </a:tblGrid>
              <a:tr h="20955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Statistical Comparisons - Mouse Plasma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555793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Welch's Two-Sample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GF_FMT_Young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GF_FMT_Young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38246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8777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20428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89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396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137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70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430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119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222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216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201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156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454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109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93942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0.05&lt;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9402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24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88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32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43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63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27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39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37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40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47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67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29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1397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C77215-9FF6-57B8-BE5B-9A237FBB7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215641"/>
              </p:ext>
            </p:extLst>
          </p:nvPr>
        </p:nvGraphicFramePr>
        <p:xfrm>
          <a:off x="965200" y="3724150"/>
          <a:ext cx="7213600" cy="1933575"/>
        </p:xfrm>
        <a:graphic>
          <a:graphicData uri="http://schemas.openxmlformats.org/drawingml/2006/table">
            <a:tbl>
              <a:tblPr/>
              <a:tblGrid>
                <a:gridCol w="1342654">
                  <a:extLst>
                    <a:ext uri="{9D8B030D-6E8A-4147-A177-3AD203B41FA5}">
                      <a16:colId xmlns:a16="http://schemas.microsoft.com/office/drawing/2014/main" val="3160971764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2626430885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1284976114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1344434908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1294240368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4280921466"/>
                    </a:ext>
                  </a:extLst>
                </a:gridCol>
                <a:gridCol w="978491">
                  <a:extLst>
                    <a:ext uri="{9D8B030D-6E8A-4147-A177-3AD203B41FA5}">
                      <a16:colId xmlns:a16="http://schemas.microsoft.com/office/drawing/2014/main" val="2605166985"/>
                    </a:ext>
                  </a:extLst>
                </a:gridCol>
              </a:tblGrid>
              <a:tr h="200025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Statistical Comparisons - Mouse Cecal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408460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Welch's Two-Sample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GF_FMT_Young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GF_FMT_Aged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GF_FMT_Young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664873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GF_FMT_Young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Aged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37978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46811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114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133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108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65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396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194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331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197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477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228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262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156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8574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0.05&lt;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8267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73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40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87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46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96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41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71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49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110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41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66 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55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263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99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9430-174D-E5E6-E2DE-854FCBEF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5EC14B-256B-A660-29A8-D817A36A9CE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Statistical Summary – Human Plasma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924785A-5221-B10C-5B4F-EBBACC5F41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718240-AB44-149B-F67E-4D997320C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55118"/>
              </p:ext>
            </p:extLst>
          </p:nvPr>
        </p:nvGraphicFramePr>
        <p:xfrm>
          <a:off x="3206749" y="1276350"/>
          <a:ext cx="2730500" cy="2152650"/>
        </p:xfrm>
        <a:graphic>
          <a:graphicData uri="http://schemas.openxmlformats.org/drawingml/2006/table">
            <a:tbl>
              <a:tblPr/>
              <a:tblGrid>
                <a:gridCol w="1347767">
                  <a:extLst>
                    <a:ext uri="{9D8B030D-6E8A-4147-A177-3AD203B41FA5}">
                      <a16:colId xmlns:a16="http://schemas.microsoft.com/office/drawing/2014/main" val="2315410656"/>
                    </a:ext>
                  </a:extLst>
                </a:gridCol>
                <a:gridCol w="1382733">
                  <a:extLst>
                    <a:ext uri="{9D8B030D-6E8A-4147-A177-3AD203B41FA5}">
                      <a16:colId xmlns:a16="http://schemas.microsoft.com/office/drawing/2014/main" val="3821625128"/>
                    </a:ext>
                  </a:extLst>
                </a:gridCol>
              </a:tblGrid>
              <a:tr h="4191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Statistical Comparisons - Human Plasma (Volume Normalization)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276895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Matched Pairs t-Test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After_FMT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186764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Before_FMT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52385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9875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296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67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46701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0.05&lt;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25162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75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41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21177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28DC2B-F2D3-0486-4C6F-9AD82CC8C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78159"/>
              </p:ext>
            </p:extLst>
          </p:nvPr>
        </p:nvGraphicFramePr>
        <p:xfrm>
          <a:off x="3047999" y="3724150"/>
          <a:ext cx="3048000" cy="2152650"/>
        </p:xfrm>
        <a:graphic>
          <a:graphicData uri="http://schemas.openxmlformats.org/drawingml/2006/table">
            <a:tbl>
              <a:tblPr/>
              <a:tblGrid>
                <a:gridCol w="1349010">
                  <a:extLst>
                    <a:ext uri="{9D8B030D-6E8A-4147-A177-3AD203B41FA5}">
                      <a16:colId xmlns:a16="http://schemas.microsoft.com/office/drawing/2014/main" val="3820685666"/>
                    </a:ext>
                  </a:extLst>
                </a:gridCol>
                <a:gridCol w="849495">
                  <a:extLst>
                    <a:ext uri="{9D8B030D-6E8A-4147-A177-3AD203B41FA5}">
                      <a16:colId xmlns:a16="http://schemas.microsoft.com/office/drawing/2014/main" val="1335602660"/>
                    </a:ext>
                  </a:extLst>
                </a:gridCol>
                <a:gridCol w="849495">
                  <a:extLst>
                    <a:ext uri="{9D8B030D-6E8A-4147-A177-3AD203B41FA5}">
                      <a16:colId xmlns:a16="http://schemas.microsoft.com/office/drawing/2014/main" val="4021849590"/>
                    </a:ext>
                  </a:extLst>
                </a:gridCol>
              </a:tblGrid>
              <a:tr h="4191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Statistical Comparisons - Human Plasma          (Volume Normalization)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42662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Welch's Two-Sample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Before_FMT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After_FMT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071302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Healthy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Healthy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44204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0312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200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210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130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49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98342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0.05&lt;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7056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62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76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114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31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83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060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7DFF1-C8CE-5313-2C26-50050F15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99B59B-6F9F-718D-2CAA-20F36CD2A51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Statistical Summary – Human Feces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0E3C235-CFDC-D364-F214-136A5F979C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3CED2F-8381-BC25-6F2D-5FA5E5E0C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39527"/>
              </p:ext>
            </p:extLst>
          </p:nvPr>
        </p:nvGraphicFramePr>
        <p:xfrm>
          <a:off x="3314700" y="1495425"/>
          <a:ext cx="2514600" cy="1933575"/>
        </p:xfrm>
        <a:graphic>
          <a:graphicData uri="http://schemas.openxmlformats.org/drawingml/2006/table">
            <a:tbl>
              <a:tblPr/>
              <a:tblGrid>
                <a:gridCol w="1349608">
                  <a:extLst>
                    <a:ext uri="{9D8B030D-6E8A-4147-A177-3AD203B41FA5}">
                      <a16:colId xmlns:a16="http://schemas.microsoft.com/office/drawing/2014/main" val="893149937"/>
                    </a:ext>
                  </a:extLst>
                </a:gridCol>
                <a:gridCol w="1164992">
                  <a:extLst>
                    <a:ext uri="{9D8B030D-6E8A-4147-A177-3AD203B41FA5}">
                      <a16:colId xmlns:a16="http://schemas.microsoft.com/office/drawing/2014/main" val="453517641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Statistical Comparisons - Human Feces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558140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Matched Pairs t-Test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After_FMT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011836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Before_FMT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3343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38815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398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293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60456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0.05&lt;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4727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78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99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62262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BEBC8A-B44E-48C1-F893-994C2068D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33202"/>
              </p:ext>
            </p:extLst>
          </p:nvPr>
        </p:nvGraphicFramePr>
        <p:xfrm>
          <a:off x="3111499" y="3724150"/>
          <a:ext cx="2921001" cy="1933575"/>
        </p:xfrm>
        <a:graphic>
          <a:graphicData uri="http://schemas.openxmlformats.org/drawingml/2006/table">
            <a:tbl>
              <a:tblPr/>
              <a:tblGrid>
                <a:gridCol w="1352079">
                  <a:extLst>
                    <a:ext uri="{9D8B030D-6E8A-4147-A177-3AD203B41FA5}">
                      <a16:colId xmlns:a16="http://schemas.microsoft.com/office/drawing/2014/main" val="2366977390"/>
                    </a:ext>
                  </a:extLst>
                </a:gridCol>
                <a:gridCol w="784461">
                  <a:extLst>
                    <a:ext uri="{9D8B030D-6E8A-4147-A177-3AD203B41FA5}">
                      <a16:colId xmlns:a16="http://schemas.microsoft.com/office/drawing/2014/main" val="3357475523"/>
                    </a:ext>
                  </a:extLst>
                </a:gridCol>
                <a:gridCol w="784461">
                  <a:extLst>
                    <a:ext uri="{9D8B030D-6E8A-4147-A177-3AD203B41FA5}">
                      <a16:colId xmlns:a16="http://schemas.microsoft.com/office/drawing/2014/main" val="3974850908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Statistical Comparisons - Human Feces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480157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Welch's Two-Sample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Before_FMT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sng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After_FMT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363500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Healthy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Healthy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7516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40079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591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271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490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93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2533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biochemicals 0.05&lt;</a:t>
                      </a:r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8923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Biochemicals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↑</a:t>
                      </a:r>
                      <a:r>
                        <a:rPr lang="en-US" sz="10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↓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119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34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90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|</a:t>
                      </a:r>
                      <a:r>
                        <a:rPr lang="en-US" sz="11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</a:rPr>
                        <a:t> 34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071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29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BDD658-5304-6465-CA57-CA2B39EF0F0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Platform QC and Metabolite Summary</a:t>
            </a:r>
          </a:p>
        </p:txBody>
      </p:sp>
      <p:sp>
        <p:nvSpPr>
          <p:cNvPr id="5" name="Text Box 23">
            <a:extLst>
              <a:ext uri="{FF2B5EF4-FFF2-40B4-BE49-F238E27FC236}">
                <a16:creationId xmlns:a16="http://schemas.microsoft.com/office/drawing/2014/main" id="{A38DA46A-C1B8-A175-62DD-591EAF394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666" y="905259"/>
            <a:ext cx="44566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342892"/>
            <a:r>
              <a:rPr lang="en-US" sz="2000" b="1" cap="all" dirty="0">
                <a:solidFill>
                  <a:srgbClr val="4F9FCC"/>
                </a:solidFill>
                <a:latin typeface="+mj-lt"/>
                <a:ea typeface="+mj-ea"/>
                <a:cs typeface="+mj-cs"/>
              </a:rPr>
              <a:t>Data Quality and Precision</a:t>
            </a:r>
          </a:p>
        </p:txBody>
      </p:sp>
      <p:sp>
        <p:nvSpPr>
          <p:cNvPr id="6" name="Text Box 69">
            <a:extLst>
              <a:ext uri="{FF2B5EF4-FFF2-40B4-BE49-F238E27FC236}">
                <a16:creationId xmlns:a16="http://schemas.microsoft.com/office/drawing/2014/main" id="{327E04F1-08F2-1493-382F-FB41565AE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50" y="3869549"/>
            <a:ext cx="60579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 i="1" dirty="0">
                <a:latin typeface="+mj-lt"/>
              </a:rPr>
              <a:t>These data are within Metabolon’s QC specifications.</a:t>
            </a:r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B25DB4F3-1853-CCE3-5971-8B8889556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3846" y="4248403"/>
            <a:ext cx="38363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342892"/>
            <a:r>
              <a:rPr lang="en-US" sz="2000" b="1" cap="all" dirty="0">
                <a:solidFill>
                  <a:srgbClr val="4F9FCC"/>
                </a:solidFill>
                <a:latin typeface="+mj-lt"/>
                <a:ea typeface="+mj-ea"/>
                <a:cs typeface="+mj-cs"/>
              </a:rPr>
              <a:t>Number of Metabolites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1A5107-C87E-A28E-7C35-33D9194B3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434065"/>
              </p:ext>
            </p:extLst>
          </p:nvPr>
        </p:nvGraphicFramePr>
        <p:xfrm>
          <a:off x="1336782" y="4677482"/>
          <a:ext cx="6011501" cy="14935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973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101">
                  <a:extLst>
                    <a:ext uri="{9D8B030D-6E8A-4147-A177-3AD203B41FA5}">
                      <a16:colId xmlns:a16="http://schemas.microsoft.com/office/drawing/2014/main" val="1833845962"/>
                    </a:ext>
                  </a:extLst>
                </a:gridCol>
                <a:gridCol w="1059255">
                  <a:extLst>
                    <a:ext uri="{9D8B030D-6E8A-4147-A177-3AD203B41FA5}">
                      <a16:colId xmlns:a16="http://schemas.microsoft.com/office/drawing/2014/main" val="262888240"/>
                    </a:ext>
                  </a:extLst>
                </a:gridCol>
                <a:gridCol w="986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Metabolite Classification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Mouse Plasma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Mouse Cecal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Human Plasma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Human Feces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1103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1426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1344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Arial" pitchFamily="34" charset="0"/>
                          <a:cs typeface="Arial" pitchFamily="34" charset="0"/>
                        </a:rPr>
                        <a:t>1752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>
                          <a:latin typeface="Arial" pitchFamily="34" charset="0"/>
                          <a:cs typeface="Arial" pitchFamily="34" charset="0"/>
                        </a:rPr>
                        <a:t>Named/Identified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983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1115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1101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1340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Unnamed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120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311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243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Arial" pitchFamily="34" charset="0"/>
                          <a:cs typeface="Arial" pitchFamily="34" charset="0"/>
                        </a:rPr>
                        <a:t>412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DBBDCF-145A-DFC0-5154-F7231E5BA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058179"/>
              </p:ext>
            </p:extLst>
          </p:nvPr>
        </p:nvGraphicFramePr>
        <p:xfrm>
          <a:off x="964194" y="1343077"/>
          <a:ext cx="7215612" cy="176525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41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950">
                  <a:extLst>
                    <a:ext uri="{9D8B030D-6E8A-4147-A177-3AD203B41FA5}">
                      <a16:colId xmlns:a16="http://schemas.microsoft.com/office/drawing/2014/main" val="878939639"/>
                    </a:ext>
                  </a:extLst>
                </a:gridCol>
                <a:gridCol w="1195058">
                  <a:extLst>
                    <a:ext uri="{9D8B030D-6E8A-4147-A177-3AD203B41FA5}">
                      <a16:colId xmlns:a16="http://schemas.microsoft.com/office/drawing/2014/main" val="3096065966"/>
                    </a:ext>
                  </a:extLst>
                </a:gridCol>
              </a:tblGrid>
              <a:tr h="24003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Quality Control Sample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Median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RSD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Mouse Plasma (MTRX7)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Mouse Cecal (CMTRX)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Human Plasma (MTRX7) 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Human Feces (CMTRX)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>
                          <a:latin typeface="Arial" pitchFamily="34" charset="0"/>
                          <a:cs typeface="Arial" pitchFamily="34" charset="0"/>
                        </a:rPr>
                        <a:t>Internal Standard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3%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4%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Endogenous Metabolites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7%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5%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6%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itchFamily="34" charset="0"/>
                          <a:cs typeface="Arial" pitchFamily="34" charset="0"/>
                        </a:rPr>
                        <a:t>5%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45">
            <a:extLst>
              <a:ext uri="{FF2B5EF4-FFF2-40B4-BE49-F238E27FC236}">
                <a16:creationId xmlns:a16="http://schemas.microsoft.com/office/drawing/2014/main" id="{D533F8C7-4448-FFFF-74C6-813433BD9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563" y="3223218"/>
            <a:ext cx="86148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342892"/>
            <a:r>
              <a:rPr lang="en-US" sz="1200" dirty="0">
                <a:solidFill>
                  <a:srgbClr val="4F9FCC"/>
                </a:solidFill>
                <a:latin typeface="+mj-lt"/>
                <a:ea typeface="+mj-ea"/>
                <a:cs typeface="+mj-cs"/>
              </a:rPr>
              <a:t>Internal Standards</a:t>
            </a:r>
            <a:r>
              <a:rPr lang="en-US" sz="12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1200" dirty="0">
                <a:solidFill>
                  <a:sysClr val="windowText" lastClr="000000"/>
                </a:solidFill>
                <a:latin typeface="+mj-lt"/>
                <a:ea typeface="+mj-ea"/>
                <a:cs typeface="+mj-cs"/>
              </a:rPr>
              <a:t>standards spiked into each of the study samples prior to injection into the MS instrument</a:t>
            </a:r>
          </a:p>
          <a:p>
            <a:pPr algn="ctr" defTabSz="342892"/>
            <a:r>
              <a:rPr lang="en-US" sz="1200" dirty="0">
                <a:solidFill>
                  <a:srgbClr val="4F9FCC"/>
                </a:solidFill>
                <a:latin typeface="+mj-lt"/>
                <a:ea typeface="+mj-ea"/>
                <a:cs typeface="+mj-cs"/>
              </a:rPr>
              <a:t>Endogenous Metabolites</a:t>
            </a:r>
            <a:r>
              <a:rPr lang="en-US" sz="12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1200" dirty="0">
                <a:solidFill>
                  <a:sysClr val="windowText" lastClr="000000"/>
                </a:solidFill>
                <a:latin typeface="+mj-lt"/>
                <a:ea typeface="+mj-ea"/>
                <a:cs typeface="+mj-cs"/>
              </a:rPr>
              <a:t>from </a:t>
            </a:r>
            <a:r>
              <a:rPr lang="en-US" sz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MTRX7 and CMTRX </a:t>
            </a:r>
            <a:r>
              <a:rPr lang="en-US" sz="1200" dirty="0">
                <a:solidFill>
                  <a:sysClr val="windowText" lastClr="000000"/>
                </a:solidFill>
                <a:latin typeface="+mj-lt"/>
                <a:ea typeface="+mj-ea"/>
                <a:cs typeface="+mj-cs"/>
              </a:rPr>
              <a:t>samples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CF407-DAFF-82CA-C8D9-86120C5C0C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521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/>
          </p:cNvPicPr>
          <p:nvPr/>
        </p:nvPicPr>
        <p:blipFill>
          <a:blip r:embed="rId2"/>
          <a:srcRect t="17030"/>
          <a:stretch/>
        </p:blipFill>
        <p:spPr>
          <a:xfrm>
            <a:off x="4984736" y="3166260"/>
            <a:ext cx="1184060" cy="63223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E74121B-3CB9-D5C7-A9EF-EEB24CAF432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Display – Mouse Box Plots</a:t>
            </a:r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id="{2702E07F-A999-9C4A-268F-715B41F665BD}"/>
              </a:ext>
            </a:extLst>
          </p:cNvPr>
          <p:cNvGrpSpPr/>
          <p:nvPr/>
        </p:nvGrpSpPr>
        <p:grpSpPr>
          <a:xfrm>
            <a:off x="1792587" y="1824593"/>
            <a:ext cx="2733678" cy="3139841"/>
            <a:chOff x="2284858" y="1843899"/>
            <a:chExt cx="4655891" cy="3242466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8793DC8A-FB90-3895-F1D2-D026E3200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166" y="1843899"/>
              <a:ext cx="3367583" cy="41037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4D4D4D"/>
                  </a:solidFill>
                  <a:cs typeface="Arial" pitchFamily="34" charset="0"/>
                </a:rPr>
                <a:t>Metabolite Name</a:t>
              </a:r>
              <a:endParaRPr lang="en-US" sz="1400" b="1" i="1" dirty="0">
                <a:solidFill>
                  <a:srgbClr val="4D4D4D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2376B4E8-1E96-121D-7821-07F9D20E93A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84858" y="2191280"/>
              <a:ext cx="736549" cy="21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vert270"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4D4D4D"/>
                  </a:solidFill>
                  <a:cs typeface="Arial" pitchFamily="34" charset="0"/>
                </a:rPr>
                <a:t>Scaled Intensity</a:t>
              </a:r>
              <a:endParaRPr lang="en-US" sz="1100" b="1" i="1" dirty="0">
                <a:solidFill>
                  <a:srgbClr val="4D4D4D"/>
                </a:solidFill>
                <a:cs typeface="Arial" pitchFamily="34" charset="0"/>
              </a:endParaRPr>
            </a:p>
          </p:txBody>
        </p: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ADCDCF3F-272B-6740-FF66-0B4DA56C68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80246" y="4675995"/>
              <a:ext cx="2953422" cy="410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4D4D4D"/>
                  </a:solidFill>
                  <a:cs typeface="Arial" pitchFamily="34" charset="0"/>
                </a:rPr>
                <a:t>Group</a:t>
              </a:r>
              <a:endParaRPr lang="en-US" sz="1100" b="1" i="1" dirty="0">
                <a:solidFill>
                  <a:srgbClr val="4D4D4D"/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3779993-CE7F-6019-A72B-53C203C1FBFB}"/>
              </a:ext>
            </a:extLst>
          </p:cNvPr>
          <p:cNvGrpSpPr/>
          <p:nvPr/>
        </p:nvGrpSpPr>
        <p:grpSpPr>
          <a:xfrm>
            <a:off x="4983367" y="1835549"/>
            <a:ext cx="2235995" cy="3012151"/>
            <a:chOff x="5410200" y="1229749"/>
            <a:chExt cx="2981326" cy="4016201"/>
          </a:xfrm>
        </p:grpSpPr>
        <p:grpSp>
          <p:nvGrpSpPr>
            <p:cNvPr id="10" name="Group 32">
              <a:extLst>
                <a:ext uri="{FF2B5EF4-FFF2-40B4-BE49-F238E27FC236}">
                  <a16:creationId xmlns:a16="http://schemas.microsoft.com/office/drawing/2014/main" id="{E5CF7A10-7E0D-9A84-FC14-06932596D432}"/>
                </a:ext>
              </a:extLst>
            </p:cNvPr>
            <p:cNvGrpSpPr/>
            <p:nvPr/>
          </p:nvGrpSpPr>
          <p:grpSpPr>
            <a:xfrm>
              <a:off x="5410200" y="1229749"/>
              <a:ext cx="2981326" cy="4016201"/>
              <a:chOff x="5811343" y="-529671"/>
              <a:chExt cx="2499687" cy="4016201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59D8CBA-0F78-F06B-40C9-F381A2737451}"/>
                  </a:ext>
                </a:extLst>
              </p:cNvPr>
              <p:cNvSpPr/>
              <p:nvPr/>
            </p:nvSpPr>
            <p:spPr>
              <a:xfrm>
                <a:off x="5811343" y="-120630"/>
                <a:ext cx="2499687" cy="36071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FECECF4F-13B5-4150-CAB2-92CAB076A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3782" y="-529671"/>
                <a:ext cx="2045577" cy="4103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i="1" dirty="0">
                    <a:solidFill>
                      <a:srgbClr val="4D4D4D"/>
                    </a:solidFill>
                    <a:cs typeface="Arial" pitchFamily="34" charset="0"/>
                  </a:rPr>
                  <a:t>Box Plot Legend</a:t>
                </a:r>
              </a:p>
            </p:txBody>
          </p:sp>
        </p:grp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187E5C96-92EA-C859-82E6-A101C22B1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068080" y="1744984"/>
              <a:ext cx="1282706" cy="33610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4B94C-4275-B77D-5475-77F74623B1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5A1529-9635-E947-D9CA-0415CD206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047" y="2221975"/>
            <a:ext cx="2625180" cy="228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26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1AE5-C969-4E54-DE10-1EC7903C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/>
          </p:cNvPicPr>
          <p:nvPr/>
        </p:nvPicPr>
        <p:blipFill>
          <a:blip r:embed="rId2"/>
          <a:srcRect t="22167"/>
          <a:stretch/>
        </p:blipFill>
        <p:spPr>
          <a:xfrm>
            <a:off x="4954869" y="3258176"/>
            <a:ext cx="1241353" cy="47467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85A994-17B0-22F1-7424-0C84A2C2982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 Display – Human Box Plots</a:t>
            </a:r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id="{20144B86-B01A-9B24-81B0-598BE4511AAB}"/>
              </a:ext>
            </a:extLst>
          </p:cNvPr>
          <p:cNvGrpSpPr/>
          <p:nvPr/>
        </p:nvGrpSpPr>
        <p:grpSpPr>
          <a:xfrm>
            <a:off x="1792587" y="1842299"/>
            <a:ext cx="2680251" cy="3132266"/>
            <a:chOff x="2284858" y="1862183"/>
            <a:chExt cx="4564896" cy="3234643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412D055C-7BA8-15B1-5153-8A65CE596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2171" y="1862183"/>
              <a:ext cx="3367583" cy="41037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4D4D4D"/>
                  </a:solidFill>
                  <a:cs typeface="Arial" pitchFamily="34" charset="0"/>
                </a:rPr>
                <a:t>Metabolite Name</a:t>
              </a:r>
              <a:endParaRPr lang="en-US" sz="1400" b="1" i="1" dirty="0">
                <a:solidFill>
                  <a:srgbClr val="4D4D4D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52529078-E331-5DF2-DAD1-A602B934151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84858" y="2191280"/>
              <a:ext cx="736549" cy="21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vert270" wrap="non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4D4D4D"/>
                  </a:solidFill>
                  <a:cs typeface="Arial" pitchFamily="34" charset="0"/>
                </a:rPr>
                <a:t>Scaled Intensity</a:t>
              </a:r>
              <a:endParaRPr lang="en-US" sz="1100" b="1" i="1" dirty="0">
                <a:solidFill>
                  <a:srgbClr val="4D4D4D"/>
                </a:solidFill>
                <a:cs typeface="Arial" pitchFamily="34" charset="0"/>
              </a:endParaRPr>
            </a:p>
          </p:txBody>
        </p: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096EA1B7-F080-E2D0-0463-635769414FB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89251" y="4686456"/>
              <a:ext cx="2953422" cy="410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4D4D4D"/>
                  </a:solidFill>
                  <a:cs typeface="Arial" pitchFamily="34" charset="0"/>
                </a:rPr>
                <a:t>Group</a:t>
              </a:r>
              <a:endParaRPr lang="en-US" sz="1100" b="1" i="1" dirty="0">
                <a:solidFill>
                  <a:srgbClr val="4D4D4D"/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28523C1-C888-DDCA-1E48-E307BE657CF4}"/>
              </a:ext>
            </a:extLst>
          </p:cNvPr>
          <p:cNvGrpSpPr/>
          <p:nvPr/>
        </p:nvGrpSpPr>
        <p:grpSpPr>
          <a:xfrm>
            <a:off x="4983367" y="1835549"/>
            <a:ext cx="2235995" cy="3012151"/>
            <a:chOff x="5410200" y="1229749"/>
            <a:chExt cx="2981326" cy="4016201"/>
          </a:xfrm>
        </p:grpSpPr>
        <p:grpSp>
          <p:nvGrpSpPr>
            <p:cNvPr id="10" name="Group 32">
              <a:extLst>
                <a:ext uri="{FF2B5EF4-FFF2-40B4-BE49-F238E27FC236}">
                  <a16:creationId xmlns:a16="http://schemas.microsoft.com/office/drawing/2014/main" id="{87AEB39B-316E-9B82-B537-BD47610126A9}"/>
                </a:ext>
              </a:extLst>
            </p:cNvPr>
            <p:cNvGrpSpPr/>
            <p:nvPr/>
          </p:nvGrpSpPr>
          <p:grpSpPr>
            <a:xfrm>
              <a:off x="5410200" y="1229749"/>
              <a:ext cx="2981326" cy="4016201"/>
              <a:chOff x="5811343" y="-529671"/>
              <a:chExt cx="2499687" cy="4016201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1F9D546-1D42-7F58-48A6-655E4F4F8E40}"/>
                  </a:ext>
                </a:extLst>
              </p:cNvPr>
              <p:cNvSpPr/>
              <p:nvPr/>
            </p:nvSpPr>
            <p:spPr>
              <a:xfrm>
                <a:off x="5811343" y="-120630"/>
                <a:ext cx="2499687" cy="36071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25169C7B-1D34-155C-36C6-12C838F17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3782" y="-529671"/>
                <a:ext cx="2045577" cy="4103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i="1" dirty="0">
                    <a:solidFill>
                      <a:srgbClr val="4D4D4D"/>
                    </a:solidFill>
                    <a:cs typeface="Arial" pitchFamily="34" charset="0"/>
                  </a:rPr>
                  <a:t>Box Plot Legend</a:t>
                </a:r>
              </a:p>
            </p:txBody>
          </p:sp>
        </p:grp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48BBDAE-5960-5403-0217-3D12119F7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068080" y="1744984"/>
              <a:ext cx="1282706" cy="33610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5FF07-6151-D63F-E8E9-BBAD93ABA2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82FD74-72CD-8106-968B-3AF8C2266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797" y="2232930"/>
            <a:ext cx="2790826" cy="227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12B935-1A3F-820E-1B68-E0C81A6ACD3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PCA (Mouse Study Arm)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6455D-17F8-6474-401B-7B677B255B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pic>
        <p:nvPicPr>
          <p:cNvPr id="2" name="Picture 3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232602" y="1729461"/>
            <a:ext cx="3980974" cy="312039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0FE96E-B100-1AA2-3496-BC12288A9132}"/>
              </a:ext>
            </a:extLst>
          </p:cNvPr>
          <p:cNvSpPr txBox="1"/>
          <p:nvPr/>
        </p:nvSpPr>
        <p:spPr>
          <a:xfrm>
            <a:off x="1289900" y="1377863"/>
            <a:ext cx="186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Plasma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4673078" y="1729461"/>
            <a:ext cx="3980974" cy="312039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32BD11-648E-DFD6-FAB5-A598C8DA142B}"/>
              </a:ext>
            </a:extLst>
          </p:cNvPr>
          <p:cNvSpPr txBox="1"/>
          <p:nvPr/>
        </p:nvSpPr>
        <p:spPr>
          <a:xfrm>
            <a:off x="5456862" y="1377863"/>
            <a:ext cx="2413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Cecal 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B1903A-824F-62A6-E06C-A2A82BB2D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789" y="5155113"/>
            <a:ext cx="12096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0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7852-C4B6-24FF-411E-DD444F3C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C11594-BECB-5A18-E818-F361AF2A756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PCA (Mouse Study Arm)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466CD-1379-CDE5-17CA-6C1913EB47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01302" y="6489183"/>
            <a:ext cx="2897774" cy="368825"/>
          </a:xfrm>
        </p:spPr>
        <p:txBody>
          <a:bodyPr/>
          <a:lstStyle/>
          <a:p>
            <a:r>
              <a:rPr lang="en-US" dirty="0"/>
              <a:t>© 2025 Metabolon, Inc. All rights reserved.</a:t>
            </a:r>
            <a:endParaRPr lang="en-CA" b="1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65397-6076-859E-8BB3-CE645E6DCCF9}"/>
              </a:ext>
            </a:extLst>
          </p:cNvPr>
          <p:cNvSpPr txBox="1"/>
          <p:nvPr/>
        </p:nvSpPr>
        <p:spPr>
          <a:xfrm>
            <a:off x="1364482" y="1377863"/>
            <a:ext cx="186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Plasma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0E1B0-A2C2-455D-F816-94FCB931FCF4}"/>
              </a:ext>
            </a:extLst>
          </p:cNvPr>
          <p:cNvSpPr txBox="1"/>
          <p:nvPr/>
        </p:nvSpPr>
        <p:spPr>
          <a:xfrm>
            <a:off x="5355784" y="1377863"/>
            <a:ext cx="2413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Feces</a:t>
            </a: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4572000" y="1722143"/>
            <a:ext cx="3980974" cy="312039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0" name="Picture 3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307184" y="1722143"/>
            <a:ext cx="3980974" cy="312039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158334-5B1C-6A96-A02E-47F62CF95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451" y="5243484"/>
            <a:ext cx="12573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10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7222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6"/>
  <p:tag name="MIO_SHOW_DATE" val="False"/>
  <p:tag name="MIO_SHOW_FOOTER" val="False"/>
  <p:tag name="MIO_SHOW_PAGENUMBER" val="False"/>
  <p:tag name="MIO_AVOID_BLANK_LAYOUT" val="True"/>
  <p:tag name="MIO_CD_LAYOUT_VALID_AREA" val="True"/>
  <p:tag name="MIO_EMBED_FONT" val="True"/>
  <p:tag name="MIO_NUMBER_OF_VALID_LAYOUTS" val="28"/>
  <p:tag name="MIO_HDS" val="True"/>
  <p:tag name="MIO_SKIPVERSION" val="01.01.0001 00:00:00"/>
  <p:tag name="MIO_EKGUID" val="7ee24dd1-71c5-4519-aaca-9bd6569bbe67"/>
  <p:tag name="MIO_UPDATE" val="True"/>
  <p:tag name="MIO_VERSION" val="18.06.2021 21:40:49"/>
  <p:tag name="MIO_DBID" val="0F45B44C-9BC7-4D85-81C4-7155EE70A7B9"/>
  <p:tag name="MIO_LASTDOWNLOADED" val="18.06.2021 15:19:03.940"/>
  <p:tag name="MIO_OBJECTNAME" val="Metabolon Theme"/>
  <p:tag name="MIO_CDID" val="9ef5d911-ac20-4dfc-b0c5-95b5a5f386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heme/theme1.xml><?xml version="1.0" encoding="utf-8"?>
<a:theme xmlns:a="http://schemas.openxmlformats.org/drawingml/2006/main" name="Metabolon Theme">
  <a:themeElements>
    <a:clrScheme name="Metabolon Color Theme">
      <a:dk1>
        <a:srgbClr val="000000"/>
      </a:dk1>
      <a:lt1>
        <a:srgbClr val="FFFFFF"/>
      </a:lt1>
      <a:dk2>
        <a:srgbClr val="001D37"/>
      </a:dk2>
      <a:lt2>
        <a:srgbClr val="F1FAFB"/>
      </a:lt2>
      <a:accent1>
        <a:srgbClr val="001D37"/>
      </a:accent1>
      <a:accent2>
        <a:srgbClr val="28496E"/>
      </a:accent2>
      <a:accent3>
        <a:srgbClr val="FF4F57"/>
      </a:accent3>
      <a:accent4>
        <a:srgbClr val="855DA3"/>
      </a:accent4>
      <a:accent5>
        <a:srgbClr val="FCA750"/>
      </a:accent5>
      <a:accent6>
        <a:srgbClr val="D3DEE6"/>
      </a:accent6>
      <a:hlink>
        <a:srgbClr val="FF4F57"/>
      </a:hlink>
      <a:folHlink>
        <a:srgbClr val="28496E"/>
      </a:folHlink>
    </a:clrScheme>
    <a:fontScheme name="Metabolon Font Them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etabolon Template.potx" id="{53FEDA2E-35BC-49EB-A70D-204D3CD133C7}" vid="{60F7D41F-083B-44D7-9A02-8A14A8C3B920}"/>
    </a:ext>
  </a:extLst>
</a:theme>
</file>

<file path=ppt/theme/theme2.xml><?xml version="1.0" encoding="utf-8"?>
<a:theme xmlns:a="http://schemas.openxmlformats.org/drawingml/2006/main" name="Office Theme">
  <a:themeElements>
    <a:clrScheme name="Metabolon Color Theme">
      <a:dk1>
        <a:srgbClr val="000000"/>
      </a:dk1>
      <a:lt1>
        <a:srgbClr val="FFFFFF"/>
      </a:lt1>
      <a:dk2>
        <a:srgbClr val="001D37"/>
      </a:dk2>
      <a:lt2>
        <a:srgbClr val="F1FAFB"/>
      </a:lt2>
      <a:accent1>
        <a:srgbClr val="001D37"/>
      </a:accent1>
      <a:accent2>
        <a:srgbClr val="28496E"/>
      </a:accent2>
      <a:accent3>
        <a:srgbClr val="FF4F57"/>
      </a:accent3>
      <a:accent4>
        <a:srgbClr val="855DA3"/>
      </a:accent4>
      <a:accent5>
        <a:srgbClr val="FCA750"/>
      </a:accent5>
      <a:accent6>
        <a:srgbClr val="D3DEE6"/>
      </a:accent6>
      <a:hlink>
        <a:srgbClr val="FF4F57"/>
      </a:hlink>
      <a:folHlink>
        <a:srgbClr val="28496E"/>
      </a:folHlink>
    </a:clrScheme>
    <a:fontScheme name="Metabolon Font Them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tabolon Color Theme">
      <a:dk1>
        <a:srgbClr val="000000"/>
      </a:dk1>
      <a:lt1>
        <a:srgbClr val="FFFFFF"/>
      </a:lt1>
      <a:dk2>
        <a:srgbClr val="001D37"/>
      </a:dk2>
      <a:lt2>
        <a:srgbClr val="F1FAFB"/>
      </a:lt2>
      <a:accent1>
        <a:srgbClr val="001D37"/>
      </a:accent1>
      <a:accent2>
        <a:srgbClr val="28496E"/>
      </a:accent2>
      <a:accent3>
        <a:srgbClr val="FF4F57"/>
      </a:accent3>
      <a:accent4>
        <a:srgbClr val="855DA3"/>
      </a:accent4>
      <a:accent5>
        <a:srgbClr val="FCA750"/>
      </a:accent5>
      <a:accent6>
        <a:srgbClr val="D3DEE6"/>
      </a:accent6>
      <a:hlink>
        <a:srgbClr val="FF4F57"/>
      </a:hlink>
      <a:folHlink>
        <a:srgbClr val="28496E"/>
      </a:folHlink>
    </a:clrScheme>
    <a:fontScheme name="Metabolon Font Them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44BF2343C71844BBD9E325C485F69A" ma:contentTypeVersion="12" ma:contentTypeDescription="Create a new document." ma:contentTypeScope="" ma:versionID="57c8d34a1b5981050c018259de948260">
  <xsd:schema xmlns:xsd="http://www.w3.org/2001/XMLSchema" xmlns:xs="http://www.w3.org/2001/XMLSchema" xmlns:p="http://schemas.microsoft.com/office/2006/metadata/properties" xmlns:ns2="04b586df-34d8-41f1-aa80-df7de4fe8acd" xmlns:ns3="38b6c0a0-20fd-4a0b-8230-ec6ddcce1614" targetNamespace="http://schemas.microsoft.com/office/2006/metadata/properties" ma:root="true" ma:fieldsID="50e5aec3611728b16c8eb50d4ddd3890" ns2:_="" ns3:_="">
    <xsd:import namespace="04b586df-34d8-41f1-aa80-df7de4fe8acd"/>
    <xsd:import namespace="38b6c0a0-20fd-4a0b-8230-ec6ddcce161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586df-34d8-41f1-aa80-df7de4fe8ac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3b741a46-e20d-42a3-9c96-803277e322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b6c0a0-20fd-4a0b-8230-ec6ddcce161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1bad3e9-62af-4a69-9b90-699fba35b7a8}" ma:internalName="TaxCatchAll" ma:showField="CatchAllData" ma:web="38b6c0a0-20fd-4a0b-8230-ec6ddcce16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8b6c0a0-20fd-4a0b-8230-ec6ddcce1614">
      <UserInfo>
        <DisplayName/>
        <AccountId xsi:nil="true"/>
        <AccountType/>
      </UserInfo>
    </SharedWithUsers>
    <MediaLengthInSeconds xmlns="04b586df-34d8-41f1-aa80-df7de4fe8acd" xsi:nil="true"/>
    <lcf76f155ced4ddcb4097134ff3c332f xmlns="04b586df-34d8-41f1-aa80-df7de4fe8acd">
      <Terms xmlns="http://schemas.microsoft.com/office/infopath/2007/PartnerControls"/>
    </lcf76f155ced4ddcb4097134ff3c332f>
    <TaxCatchAll xmlns="38b6c0a0-20fd-4a0b-8230-ec6ddcce161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BCF4AD-FE0F-48F7-A7AD-F7410C5575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586df-34d8-41f1-aa80-df7de4fe8acd"/>
    <ds:schemaRef ds:uri="38b6c0a0-20fd-4a0b-8230-ec6ddcce16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B80C992-03C6-4A6E-A297-C364501A4442}">
  <ds:schemaRefs>
    <ds:schemaRef ds:uri="http://schemas.microsoft.com/office/2006/metadata/properties"/>
    <ds:schemaRef ds:uri="http://schemas.microsoft.com/office/infopath/2007/PartnerControls"/>
    <ds:schemaRef ds:uri="86cf91cd-9eed-46c1-88e9-4d033f0d5c4c"/>
    <ds:schemaRef ds:uri="ecffc16c-8d3b-4524-9f3c-2bfbd2fa1200"/>
    <ds:schemaRef ds:uri="38b6c0a0-20fd-4a0b-8230-ec6ddcce1614"/>
    <ds:schemaRef ds:uri="04b586df-34d8-41f1-aa80-df7de4fe8acd"/>
  </ds:schemaRefs>
</ds:datastoreItem>
</file>

<file path=customXml/itemProps3.xml><?xml version="1.0" encoding="utf-8"?>
<ds:datastoreItem xmlns:ds="http://schemas.openxmlformats.org/officeDocument/2006/customXml" ds:itemID="{E1189A20-656A-48EA-8508-87A85B230A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1072</TotalTime>
  <Words>1263</Words>
  <Application>Microsoft Office PowerPoint</Application>
  <PresentationFormat>On-screen Show (4:3)</PresentationFormat>
  <Paragraphs>299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Verdana</vt:lpstr>
      <vt:lpstr>Montserrat</vt:lpstr>
      <vt:lpstr>Metabolon Theme</vt:lpstr>
      <vt:lpstr>Investigating the effects of fecal microbial transplantation (FMT) in both a murine model and in human patients suffering from IBD</vt:lpstr>
      <vt:lpstr>Study Overview</vt:lpstr>
      <vt:lpstr>Study Overview (Mouse Arm)</vt:lpstr>
      <vt:lpstr>Study Overview (Human Arm)</vt:lpstr>
      <vt:lpstr>Statistical Analyses </vt:lpstr>
      <vt:lpstr>Statistical Summary – Mouse Study Arm</vt:lpstr>
      <vt:lpstr>Statistical Summary – Human Plasma</vt:lpstr>
      <vt:lpstr>Statistical Summary – Human Feces</vt:lpstr>
      <vt:lpstr>Platform QC and Metabolite Summary</vt:lpstr>
      <vt:lpstr>Data Display – Mouse Box Plots</vt:lpstr>
      <vt:lpstr>Data Display – Human Box Plots</vt:lpstr>
      <vt:lpstr>PCA (Mouse Study Arm)</vt:lpstr>
      <vt:lpstr>PCA (Mouse Study Arm)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Rehnvall</dc:creator>
  <cp:lastModifiedBy>Edward Karoly</cp:lastModifiedBy>
  <cp:revision>230</cp:revision>
  <dcterms:created xsi:type="dcterms:W3CDTF">2021-06-07T17:33:31Z</dcterms:created>
  <dcterms:modified xsi:type="dcterms:W3CDTF">2025-05-29T15:47:37Z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357000</vt:r8>
  </property>
  <property fmtid="{D5CDD505-2E9C-101B-9397-08002B2CF9AE}" pid="3" name="TaxKeyword">
    <vt:lpwstr/>
  </property>
  <property fmtid="{D5CDD505-2E9C-101B-9397-08002B2CF9AE}" pid="4" name="ContentTypeId">
    <vt:lpwstr>0x010100F144BF2343C71844BBD9E325C485F69A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